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"안녕하세요. 저는 공장 같은 실내 환경에서 두 가지 모드로 동작하는 자율주행 로봇을 만들어봤습니다.</a:t>
            </a:r>
          </a:p>
          <a:p>
            <a:r>
              <a:t>자율주행 모드와 사람 추종 모드, 그리고 버튼 하나로 전환하는 기능까지 포함합니다."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"로봇에는 두 가지 모드가 있습니다.</a:t>
            </a:r>
          </a:p>
          <a:p>
            <a:r>
              <a:t>NAV 모드는 목적지를 지정하면 자율주행하는 모드고,</a:t>
            </a:r>
          </a:p>
          <a:p>
            <a:r>
              <a:t>FOLLOW 모드는 카메라로 사람을 인식해서 따라가는 모드입니다.</a:t>
            </a:r>
          </a:p>
          <a:p>
            <a:r>
              <a:t>웹 브라우저의 버튼 하나로 언제든 전환할 수 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"공통적으로 LiDAR, 카메라, 오도메트리 센서를 씁니다.</a:t>
            </a:r>
          </a:p>
          <a:p>
            <a:r>
              <a:t>NAV 모드에서는 AMCL로 위치를 추정하고 경로를 계산해서 DWB가 바퀴를 제어합니다.</a:t>
            </a:r>
          </a:p>
          <a:p>
            <a:r>
              <a:t>FOLLOW 모드에서는 YOLO로 사람을 인식하고 직접 속도 명령을 보냅니다.</a:t>
            </a:r>
          </a:p>
          <a:p>
            <a:r>
              <a:t>두 모드 모두 최종적으로는 cmd_vel 토픽으로 바퀴를 움직입니다."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"목표는 세 가지였습니다.</a:t>
            </a:r>
          </a:p>
          <a:p>
            <a:r>
              <a:t>첫째, 웹 UI 버튼 하나로 NAV와 FOLLOW 모드를 즉시 전환하는 것.</a:t>
            </a:r>
          </a:p>
          <a:p>
            <a:r>
              <a:t>둘째, 이동 중 장애물이 있으면 스스로 처리하는 것.</a:t>
            </a:r>
          </a:p>
          <a:p>
            <a:r>
              <a:t>셋째, 실제 사무실의 좁은 문도 부딪히지 않고 통과하는 것입니다."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"만들면서 네 가지 문제가 있었습니다.</a:t>
            </a:r>
          </a:p>
          <a:p>
            <a:r>
              <a:t>처음 세 가지는 해결했고, 마지막 모드 전환 후 위치를 잃는 문제는 현재 해결 방법을 찾고 있습니다.</a:t>
            </a:r>
          </a:p>
          <a:p>
            <a:r>
              <a:t>원인은 FOLLOW 모드에서 움직인 후 위치 추정 시스템이 현재 위치를 다시 못 찾는 것입니다."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"세 가지는 모두 설정 문제였습니다.</a:t>
            </a:r>
          </a:p>
          <a:p>
            <a:r>
              <a:t>첫 번째는 속도 명령이 중간에 끊겼던 거, 스크립트에서 다시 이어줬어요.</a:t>
            </a:r>
          </a:p>
          <a:p>
            <a:r>
              <a:t>두 번째는 미탐색 구역을 통과 가능으로 설정해뒀던 거, 옵션 하나 끄니까 해결됐습니다.</a:t>
            </a:r>
          </a:p>
          <a:p>
            <a:r>
              <a:t>세 번째 문 충돌은 안전 거리를 로봇 크기에 맞게 늘리고 벽 근처 패널티를 강화해서 해결했습니다."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"네 번째 문제는 아직 해결 중입니다.</a:t>
            </a:r>
          </a:p>
          <a:p>
            <a:r>
              <a:t>FOLLOW 모드에서 이동하고 나면, NAV 모드로 돌아왔을 때 로봇이 자기 위치를 제대로 못 찾습니다.</a:t>
            </a:r>
          </a:p>
          <a:p>
            <a:r>
              <a:t>해결 방향은 두 가지를 검토하고 있는데, 전환할 때 위치를 강제로 알려주는 방법이 제일 간단할 것 같습니다.</a:t>
            </a:r>
          </a:p>
          <a:p>
            <a:r>
              <a:t>발표 이후에 적용해볼 예정입니다."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"현재 상태입니다.</a:t>
            </a:r>
          </a:p>
          <a:p>
            <a:r>
              <a:t>초록 체크는 정상 동작 중이고, 노란 경고는 테스트 중, 빨간 건 현재 해결 중입니다.</a:t>
            </a:r>
          </a:p>
          <a:p>
            <a:r>
              <a:t>핵심 기능인 자율주행, 사람 추종, 모드 전환은 모두 동작합니다."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"가장 급한 건 AMCL 위치 재추정 문제 해결입니다. 이번 주 안에 잡겠습니다.</a:t>
            </a:r>
          </a:p>
          <a:p>
            <a:r>
              <a:t>그 다음 문 통과 마무리하고, 이후에 카메라 정확도를 높이고 음성 명령까지 붙이는 게 목표입니다.</a:t>
            </a:r>
          </a:p>
          <a:p>
            <a:r>
              <a:t>최종적으로는 공장에서 작업자와 자연스럽게 함께 움직이는 로봇을 만드는 것입니다.</a:t>
            </a:r>
          </a:p>
          <a:p>
            <a:r>
              <a:t>이상입니다. 감사합니다."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502920" cy="6858000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62872" y="0"/>
            <a:ext cx="2926080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262872" y="0"/>
            <a:ext cx="36576" cy="6858000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005840"/>
            <a:ext cx="7315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2F2F2"/>
                </a:solidFill>
              </a:rPr>
              <a:t>VicPinky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9260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888888"/>
                </a:solidFill>
              </a:rPr>
              <a:t>자율주행 로봇 개발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3749039"/>
            <a:ext cx="2560320" cy="36576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31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8888"/>
                </a:solidFill>
              </a:rPr>
              <a:t>중간 발표  ·  2026. 05. 21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28632" y="109728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04040"/>
                </a:solidFill>
              </a:rPr>
              <a:t>자율주행
NAV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28632" y="274320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04040"/>
                </a:solidFill>
              </a:rPr>
              <a:t>사람추종
FOLLOW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28632" y="4389120"/>
            <a:ext cx="2286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404040"/>
                </a:solidFill>
              </a:rPr>
              <a:t>웹 UI
전환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08792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1  / 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2F2"/>
                </a:solidFill>
              </a:rPr>
              <a:t>두 가지 모드로 작동해요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22960"/>
            <a:ext cx="2441448" cy="36576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394960" cy="5212080"/>
          </a:xfrm>
          <a:prstGeom prst="rect">
            <a:avLst/>
          </a:prstGeom>
          <a:solidFill>
            <a:srgbClr val="262626"/>
          </a:solidFill>
          <a:ln w="2540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097280"/>
            <a:ext cx="5394960" cy="502920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81818"/>
                </a:solidFill>
              </a:rPr>
              <a:t>NAV  모드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2F2F2"/>
                </a:solidFill>
              </a:rPr>
              <a:t>🗺️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2F2F2"/>
                </a:solidFill>
              </a:rPr>
              <a:t>목적지를 찍으면
스스로 찾아가기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886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• 여러 경유지 순서대로 이동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434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• YOLO로 사람/물체 장애물 처리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83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• 막히면 자동 복구 (후진→대기→회전)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0" y="3017520"/>
            <a:ext cx="320040" cy="914400"/>
          </a:xfrm>
          <a:prstGeom prst="rect">
            <a:avLst/>
          </a:prstGeom>
          <a:solidFill>
            <a:srgbClr val="3535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60720" y="3200400"/>
            <a:ext cx="685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26A2F"/>
                </a:solidFill>
              </a:rPr>
              <a:t>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79476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26A2F"/>
                </a:solidFill>
              </a:rPr>
              <a:t>웹 UI
버튼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1097280"/>
            <a:ext cx="5394960" cy="5212080"/>
          </a:xfrm>
          <a:prstGeom prst="rect">
            <a:avLst/>
          </a:prstGeom>
          <a:solidFill>
            <a:srgbClr val="262626"/>
          </a:solidFill>
          <a:ln w="25400">
            <a:solidFill>
              <a:srgbClr val="F26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37960" y="1097280"/>
            <a:ext cx="5394960" cy="502920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37960" y="1097280"/>
            <a:ext cx="5394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81818"/>
                </a:solidFill>
              </a:rPr>
              <a:t>FOLLOW  모드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173736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F2F2F2"/>
                </a:solidFill>
              </a:rPr>
              <a:t>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26517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2F2F2"/>
                </a:solidFill>
              </a:rPr>
              <a:t>앞에 있는 사람을
자동으로 따라가기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20840" y="38862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• 카메라 + YOLO로 사람 인식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44348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• 거리·방향 계산 → cmd_vel 직접 제어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20840" y="498348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88"/>
                </a:solidFill>
              </a:rPr>
              <a:t>• 전환 시 Nav2 목표 자동 취소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08792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2  / 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2F2"/>
                </a:solidFill>
              </a:rPr>
              <a:t>어떻게 작동하나요?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22960"/>
            <a:ext cx="1920240" cy="36576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11247120" cy="914400"/>
          </a:xfrm>
          <a:prstGeom prst="rect">
            <a:avLst/>
          </a:prstGeom>
          <a:solidFill>
            <a:srgbClr val="222222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88888"/>
                </a:solidFill>
              </a:rPr>
              <a:t>센서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1155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2F2F2"/>
                </a:solidFill>
              </a:rPr>
              <a:t>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77440" y="111556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</a:rPr>
              <a:t>LiDAR
(거리 측정)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11155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2F2F2"/>
                </a:solidFill>
              </a:rPr>
              <a:t>📷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77840" y="111556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</a:rPr>
              <a:t>카메라
(영상)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115568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F2F2F2"/>
                </a:solidFill>
              </a:rPr>
              <a:t>⚙️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1115568"/>
            <a:ext cx="2286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2F2F2"/>
                </a:solidFill>
              </a:rPr>
              <a:t>오도메트리
(바퀴 이동량)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331720"/>
            <a:ext cx="5303520" cy="3931920"/>
          </a:xfrm>
          <a:prstGeom prst="rect">
            <a:avLst/>
          </a:prstGeom>
          <a:solidFill>
            <a:srgbClr val="18221E"/>
          </a:solidFill>
          <a:ln w="1905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94360" y="2423160"/>
            <a:ext cx="1179576" cy="320040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2450592"/>
            <a:ext cx="117957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18"/>
                </a:solidFill>
              </a:rPr>
              <a:t>NAV 모드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31520" y="2834640"/>
            <a:ext cx="1417320" cy="2651760"/>
          </a:xfrm>
          <a:prstGeom prst="rect">
            <a:avLst/>
          </a:prstGeom>
          <a:solidFill>
            <a:srgbClr val="262626"/>
          </a:solidFill>
          <a:ln w="1270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292608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2F2F2"/>
                </a:solidFill>
              </a:rPr>
              <a:t>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70332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F2F2"/>
                </a:solidFill>
              </a:rPr>
              <a:t>AMCL
위치 추정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48840" y="35661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31720" y="2834640"/>
            <a:ext cx="1417320" cy="2651760"/>
          </a:xfrm>
          <a:prstGeom prst="rect">
            <a:avLst/>
          </a:prstGeom>
          <a:solidFill>
            <a:srgbClr val="262626"/>
          </a:solidFill>
          <a:ln w="1270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331720" y="292608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2F2F2"/>
                </a:solidFill>
              </a:rPr>
              <a:t>🛣️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31720" y="370332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F2F2"/>
                </a:solidFill>
              </a:rPr>
              <a:t>경로
계산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49040" y="3566160"/>
            <a:ext cx="182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2834640"/>
            <a:ext cx="1417320" cy="2651760"/>
          </a:xfrm>
          <a:prstGeom prst="rect">
            <a:avLst/>
          </a:prstGeom>
          <a:solidFill>
            <a:srgbClr val="262626"/>
          </a:solidFill>
          <a:ln w="1270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31920" y="2926080"/>
            <a:ext cx="1417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2F2F2"/>
                </a:solidFill>
              </a:rP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703320"/>
            <a:ext cx="1417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F2F2"/>
                </a:solidFill>
              </a:rPr>
              <a:t>DWB
로컬 플래너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63640" y="2331720"/>
            <a:ext cx="5440680" cy="3931920"/>
          </a:xfrm>
          <a:prstGeom prst="rect">
            <a:avLst/>
          </a:prstGeom>
          <a:solidFill>
            <a:srgbClr val="221A12"/>
          </a:solidFill>
          <a:ln w="19050">
            <a:solidFill>
              <a:srgbClr val="F26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0" y="2423160"/>
            <a:ext cx="1563624" cy="320040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2450592"/>
            <a:ext cx="156362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18"/>
                </a:solidFill>
              </a:rPr>
              <a:t>FOLLOW 모드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46520" y="2834640"/>
            <a:ext cx="1463040" cy="2651760"/>
          </a:xfrm>
          <a:prstGeom prst="rect">
            <a:avLst/>
          </a:prstGeom>
          <a:solidFill>
            <a:srgbClr val="262626"/>
          </a:solidFill>
          <a:ln w="12700">
            <a:solidFill>
              <a:srgbClr val="F26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46520" y="29260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2F2F2"/>
                </a:solidFill>
              </a:rPr>
              <a:t>🎯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20" y="370332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F2F2"/>
                </a:solidFill>
              </a:rPr>
              <a:t>YOLO
사람 인식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09560" y="35661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138160" y="2834640"/>
            <a:ext cx="1463040" cy="2651760"/>
          </a:xfrm>
          <a:prstGeom prst="rect">
            <a:avLst/>
          </a:prstGeom>
          <a:solidFill>
            <a:srgbClr val="262626"/>
          </a:solidFill>
          <a:ln w="12700">
            <a:solidFill>
              <a:srgbClr val="F26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38160" y="29260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2F2F2"/>
                </a:solidFill>
              </a:rPr>
              <a:t>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38160" y="370332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F2F2"/>
                </a:solidFill>
              </a:rPr>
              <a:t>거리/방향
계산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601200" y="3566160"/>
            <a:ext cx="228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888888"/>
                </a:solidFill>
              </a:rPr>
              <a:t>→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29800" y="2834640"/>
            <a:ext cx="1463040" cy="2651760"/>
          </a:xfrm>
          <a:prstGeom prst="rect">
            <a:avLst/>
          </a:prstGeom>
          <a:solidFill>
            <a:srgbClr val="262626"/>
          </a:solidFill>
          <a:ln w="12700">
            <a:solidFill>
              <a:srgbClr val="F26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29800" y="2926080"/>
            <a:ext cx="1463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F2F2F2"/>
                </a:solidFill>
              </a:rPr>
              <a:t>🕹️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829800" y="3703320"/>
            <a:ext cx="1463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2F2F2"/>
                </a:solidFill>
              </a:rPr>
              <a:t>cmd_vel
직접 전송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5394960"/>
            <a:ext cx="4297680" cy="822960"/>
          </a:xfrm>
          <a:prstGeom prst="rect">
            <a:avLst/>
          </a:prstGeom>
          <a:solidFill>
            <a:srgbClr val="282828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931920" y="5440680"/>
            <a:ext cx="4297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2F2F2"/>
                </a:solidFill>
              </a:rPr>
              <a:t>→  cmd_vel  →  로봇 바퀴 구동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908792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3  / 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2F2"/>
                </a:solidFill>
              </a:rPr>
              <a:t>우리가 하고 싶었던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22960"/>
            <a:ext cx="2267712" cy="36576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188720"/>
            <a:ext cx="3566160" cy="5120640"/>
          </a:xfrm>
          <a:prstGeom prst="rect">
            <a:avLst/>
          </a:prstGeom>
          <a:solidFill>
            <a:srgbClr val="262626"/>
          </a:solidFill>
          <a:ln w="1905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333333"/>
                </a:solidFill>
              </a:rPr>
              <a:t>01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331720"/>
            <a:ext cx="3017520" cy="36576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2F2"/>
                </a:solidFill>
              </a:rPr>
              <a:t>버튼 하나로
모드 전환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1148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88"/>
                </a:solidFill>
              </a:rPr>
              <a:t>NAV ↔ FOLLOW
웹 UI에서 즉시 전환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3400" y="1188720"/>
            <a:ext cx="3566160" cy="5120640"/>
          </a:xfrm>
          <a:prstGeom prst="rect">
            <a:avLst/>
          </a:prstGeom>
          <a:solidFill>
            <a:srgbClr val="262626"/>
          </a:solidFill>
          <a:ln w="19050">
            <a:solidFill>
              <a:srgbClr val="F26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400" y="123444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333333"/>
                </a:solidFill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17720" y="2331720"/>
            <a:ext cx="3017520" cy="36576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25146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2F2"/>
                </a:solidFill>
              </a:rPr>
              <a:t>장애물 있으면
알아서 처리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1148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88"/>
                </a:solidFill>
              </a:rPr>
              <a:t>사람/물체 인식 후
우회하거나 대기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83880" y="1188720"/>
            <a:ext cx="3566160" cy="5120640"/>
          </a:xfrm>
          <a:prstGeom prst="rect">
            <a:avLst/>
          </a:prstGeom>
          <a:solidFill>
            <a:srgbClr val="262626"/>
          </a:solidFill>
          <a:ln w="19050">
            <a:solidFill>
              <a:srgbClr val="F4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234440"/>
            <a:ext cx="3566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333333"/>
                </a:solidFill>
              </a:rPr>
              <a:t>03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458200" y="2331720"/>
            <a:ext cx="3017520" cy="36576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66760" y="25146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2F2F2"/>
                </a:solidFill>
              </a:rPr>
              <a:t>좁은 문도
막힘 없이 통과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4114800"/>
            <a:ext cx="3200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888888"/>
                </a:solidFill>
              </a:rPr>
              <a:t>80cm 문, 복도
경로 중앙으로 정확하게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08792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4  / 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03E3E"/>
                </a:solidFill>
              </a:rPr>
              <a:t>근데...  문제가 생겼어요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22960"/>
            <a:ext cx="2788920" cy="36576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743200" cy="5166360"/>
          </a:xfrm>
          <a:prstGeom prst="rect">
            <a:avLst/>
          </a:prstGeom>
          <a:solidFill>
            <a:srgbClr val="262626"/>
          </a:solidFill>
          <a:ln w="1905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88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2F2F2"/>
                </a:solidFill>
              </a:rPr>
              <a:t>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1488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2F2F2"/>
                </a:solidFill>
              </a:rPr>
              <a:t>로봇이
꼼짝 안 함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3429000"/>
            <a:ext cx="2468880" cy="2743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3547872"/>
            <a:ext cx="667512" cy="32004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575304"/>
            <a:ext cx="667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18"/>
                </a:solidFill>
              </a:rPr>
              <a:t>원인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977639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속도 명령이 중간에 끊겼음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19272" y="1097280"/>
            <a:ext cx="2743200" cy="5166360"/>
          </a:xfrm>
          <a:prstGeom prst="rect">
            <a:avLst/>
          </a:prstGeom>
          <a:solidFill>
            <a:srgbClr val="262626"/>
          </a:solidFill>
          <a:ln w="1905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19272" y="1188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2F2F2"/>
                </a:solidFill>
              </a:rPr>
              <a:t>👻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6432" y="21488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2F2F2"/>
                </a:solidFill>
              </a:rPr>
              <a:t>경로가 벽을
뚫고 지나감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56432" y="3429000"/>
            <a:ext cx="2468880" cy="2743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6432" y="3547872"/>
            <a:ext cx="667512" cy="32004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47872" y="3575304"/>
            <a:ext cx="667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18"/>
                </a:solidFill>
              </a:rPr>
              <a:t>원인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56432" y="3977639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미탐색 구역 통과 허용 설정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72784" y="1097280"/>
            <a:ext cx="2743200" cy="5166360"/>
          </a:xfrm>
          <a:prstGeom prst="rect">
            <a:avLst/>
          </a:prstGeom>
          <a:solidFill>
            <a:srgbClr val="262626"/>
          </a:solidFill>
          <a:ln w="1905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2784" y="1188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2F2F2"/>
                </a:solidFill>
              </a:rPr>
              <a:t>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9944" y="21488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2F2F2"/>
                </a:solidFill>
              </a:rPr>
              <a:t>문에
부딪힘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09944" y="3429000"/>
            <a:ext cx="2468880" cy="2743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9944" y="3547872"/>
            <a:ext cx="667512" cy="32004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01384" y="3575304"/>
            <a:ext cx="667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18"/>
                </a:solidFill>
              </a:rPr>
              <a:t>원인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9944" y="3977639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안전 거리 &lt; 로봇 크기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26296" y="1097280"/>
            <a:ext cx="2743200" cy="5166360"/>
          </a:xfrm>
          <a:prstGeom prst="rect">
            <a:avLst/>
          </a:prstGeom>
          <a:solidFill>
            <a:srgbClr val="262626"/>
          </a:solidFill>
          <a:ln w="19050">
            <a:solidFill>
              <a:srgbClr val="F4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226296" y="1188720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2F2F2"/>
                </a:solidFill>
              </a:rPr>
              <a:t>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3456" y="2148840"/>
            <a:ext cx="2468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2F2F2"/>
                </a:solidFill>
              </a:rPr>
              <a:t>모드 전환 후
위치를 잃음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363456" y="3429000"/>
            <a:ext cx="2468880" cy="27432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363456" y="3547872"/>
            <a:ext cx="667512" cy="32004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54896" y="3575304"/>
            <a:ext cx="667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18"/>
                </a:solidFill>
              </a:rPr>
              <a:t>원인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63456" y="3977639"/>
            <a:ext cx="24688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AMCL이 자기 위치
재추정 못 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6080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F4C430"/>
                </a:solidFill>
              </a:rPr>
              <a:t>← 현재 해결 중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08792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5  / 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ECC9A"/>
                </a:solidFill>
              </a:rPr>
              <a:t>이렇게 고쳤어요  (3/4)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22960"/>
            <a:ext cx="2788920" cy="36576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3566160" cy="1965960"/>
          </a:xfrm>
          <a:prstGeom prst="rect">
            <a:avLst/>
          </a:prstGeom>
          <a:solidFill>
            <a:srgbClr val="281414"/>
          </a:solidFill>
          <a:ln w="1270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207008"/>
            <a:ext cx="667512" cy="32004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234440"/>
            <a:ext cx="667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18"/>
                </a:solidFill>
              </a:rPr>
              <a:t>문제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F2F2"/>
                </a:solidFill>
              </a:rPr>
              <a:t>로봇이 안 움직임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속도 명령 중간에 끊김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20" y="3154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26A2F"/>
                </a:solidFill>
              </a:rPr>
              <a:t>↓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3566160" cy="2514600"/>
          </a:xfrm>
          <a:prstGeom prst="rect">
            <a:avLst/>
          </a:prstGeom>
          <a:solidFill>
            <a:srgbClr val="142418"/>
          </a:solidFill>
          <a:ln w="22860">
            <a:solidFill>
              <a:srgbClr val="F26A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" y="3767328"/>
            <a:ext cx="667512" cy="320040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794760"/>
            <a:ext cx="667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18"/>
                </a:solidFill>
              </a:rPr>
              <a:t>해결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187952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F2F2"/>
                </a:solidFill>
              </a:rPr>
              <a:t>끊긴 연결 스크립트에서 복구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43400" y="1097280"/>
            <a:ext cx="3566160" cy="1965960"/>
          </a:xfrm>
          <a:prstGeom prst="rect">
            <a:avLst/>
          </a:prstGeom>
          <a:solidFill>
            <a:srgbClr val="281414"/>
          </a:solidFill>
          <a:ln w="1270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480560" y="1207008"/>
            <a:ext cx="667512" cy="32004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234440"/>
            <a:ext cx="667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18"/>
                </a:solidFill>
              </a:rPr>
              <a:t>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F2F2"/>
                </a:solidFill>
              </a:rPr>
              <a:t>경로가 벽 통과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2103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미탐색 구역 통과 가능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154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CC9A"/>
                </a:solidFill>
              </a:rPr>
              <a:t>↓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43400" y="3657600"/>
            <a:ext cx="3566160" cy="2514600"/>
          </a:xfrm>
          <a:prstGeom prst="rect">
            <a:avLst/>
          </a:prstGeom>
          <a:solidFill>
            <a:srgbClr val="142418"/>
          </a:solidFill>
          <a:ln w="2286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480560" y="3767328"/>
            <a:ext cx="667512" cy="320040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3794760"/>
            <a:ext cx="667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18"/>
                </a:solidFill>
              </a:rPr>
              <a:t>해결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80560" y="4187952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F2F2"/>
                </a:solidFill>
              </a:rPr>
              <a:t>설정 변경 →
미탐색 구역 차단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0" y="1097280"/>
            <a:ext cx="3566160" cy="1965960"/>
          </a:xfrm>
          <a:prstGeom prst="rect">
            <a:avLst/>
          </a:prstGeom>
          <a:solidFill>
            <a:srgbClr val="281414"/>
          </a:solidFill>
          <a:ln w="1270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66760" y="1207008"/>
            <a:ext cx="667512" cy="32004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58200" y="1234440"/>
            <a:ext cx="667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18"/>
                </a:solidFill>
              </a:rPr>
              <a:t>문제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16002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F2F2"/>
                </a:solidFill>
              </a:rPr>
              <a:t>문에 부딪힘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66760" y="2103120"/>
            <a:ext cx="32918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안전 거리 너무 작음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315468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4C430"/>
                </a:solidFill>
              </a:rPr>
              <a:t>↓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29600" y="3657600"/>
            <a:ext cx="3566160" cy="2514600"/>
          </a:xfrm>
          <a:prstGeom prst="rect">
            <a:avLst/>
          </a:prstGeom>
          <a:solidFill>
            <a:srgbClr val="142418"/>
          </a:solidFill>
          <a:ln w="22860">
            <a:solidFill>
              <a:srgbClr val="F4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366760" y="3767328"/>
            <a:ext cx="667512" cy="32004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58200" y="3794760"/>
            <a:ext cx="66751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18"/>
                </a:solidFill>
              </a:rPr>
              <a:t>해결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4187952"/>
            <a:ext cx="3291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2F2F2"/>
                </a:solidFill>
              </a:rPr>
              <a:t>안전 거리 늘리고
벽 근처 패널티 강화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08792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6  / 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4C430"/>
                </a:solidFill>
              </a:rPr>
              <a:t>현재 과제 — 모드 전환 후 위치 재추정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22960"/>
            <a:ext cx="4005072" cy="36576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303520" cy="5166360"/>
          </a:xfrm>
          <a:prstGeom prst="rect">
            <a:avLst/>
          </a:prstGeom>
          <a:solidFill>
            <a:srgbClr val="262626"/>
          </a:solidFill>
          <a:ln w="19050">
            <a:solidFill>
              <a:srgbClr val="F4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4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4C430"/>
                </a:solidFill>
              </a:rPr>
              <a:t>무슨 일이 일어나나요?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1828800"/>
            <a:ext cx="54864" cy="640080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87452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</a:rPr>
              <a:t>①  FOLLOW 모드로 전환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651760"/>
            <a:ext cx="54864" cy="640080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</a:rPr>
              <a:t>②  로봇이 사람 따라 이동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474720"/>
            <a:ext cx="54864" cy="64008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52044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</a:rPr>
              <a:t>③  Nav2가 꺼진 상태라
    위치 추정이 흐트러짐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297680"/>
            <a:ext cx="54864" cy="640080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34340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2F2F2"/>
                </a:solidFill>
              </a:rPr>
              <a:t>④  NAV 모드로 돌아오면
    로봇이 자기 위치를 모름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5120640"/>
            <a:ext cx="54864" cy="64008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5166360"/>
            <a:ext cx="47548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4C430"/>
                </a:solidFill>
              </a:rPr>
              <a:t>⑤  경로 계산 실패 or
    엉뚱한 방향으로 출발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097280"/>
            <a:ext cx="5486400" cy="5166360"/>
          </a:xfrm>
          <a:prstGeom prst="rect">
            <a:avLst/>
          </a:prstGeom>
          <a:solidFill>
            <a:srgbClr val="262626"/>
          </a:solidFill>
          <a:ln w="12700">
            <a:solidFill>
              <a:srgbClr val="4040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12344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888888"/>
                </a:solidFill>
              </a:rPr>
              <a:t>해결 방향 검토 중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00800" y="1874519"/>
            <a:ext cx="5120640" cy="1965960"/>
          </a:xfrm>
          <a:prstGeom prst="rect">
            <a:avLst/>
          </a:prstGeom>
          <a:solidFill>
            <a:srgbClr val="202020"/>
          </a:solidFill>
          <a:ln w="1524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37960" y="2011679"/>
            <a:ext cx="923544" cy="320040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29400" y="2039111"/>
            <a:ext cx="923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18"/>
                </a:solidFill>
              </a:rPr>
              <a:t>방법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242315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2ECC9A"/>
                </a:solidFill>
              </a:rPr>
              <a:t>전환 시 /initialpose 발행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2880359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AMCL에 '현재 여기 있어' 라고
강제로 알려주기
→ 가장 빠른 해결책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069079"/>
            <a:ext cx="5120640" cy="1965960"/>
          </a:xfrm>
          <a:prstGeom prst="rect">
            <a:avLst/>
          </a:prstGeom>
          <a:solidFill>
            <a:srgbClr val="202020"/>
          </a:solidFill>
          <a:ln w="1524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37960" y="4206239"/>
            <a:ext cx="923544" cy="320040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29400" y="4233671"/>
            <a:ext cx="92354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81818"/>
                </a:solidFill>
              </a:rPr>
              <a:t>방법 B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46177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3A86FF"/>
                </a:solidFill>
              </a:rPr>
              <a:t>AMCL 파라미터 튜닝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5074919"/>
            <a:ext cx="47548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88888"/>
                </a:solidFill>
              </a:rPr>
              <a:t>파티클 수 늘리고
업데이트 주기 높여서
FOLLOW 중에도 추적 유지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598932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4C430"/>
                </a:solidFill>
              </a:rPr>
              <a:t>→ 발표 후 적용 예정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08792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7  / 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2F2"/>
                </a:solidFill>
              </a:rPr>
              <a:t>지금은 이렇게 돼요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22960"/>
            <a:ext cx="1920240" cy="36576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097280"/>
            <a:ext cx="11064240" cy="65836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097280"/>
            <a:ext cx="64008" cy="658368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216152"/>
            <a:ext cx="420624" cy="420624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21615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81818"/>
                </a:solidFill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1225296"/>
            <a:ext cx="10241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2F2F2"/>
                </a:solidFill>
              </a:rPr>
              <a:t>NAV 모드 — 목적지 찍으면 자율주행 정상 동작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847088"/>
            <a:ext cx="11064240" cy="65836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1847088"/>
            <a:ext cx="64008" cy="658368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1965960"/>
            <a:ext cx="420624" cy="420624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196596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81818"/>
                </a:solidFill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1975104"/>
            <a:ext cx="10241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2F2F2"/>
                </a:solidFill>
              </a:rPr>
              <a:t>FOLLOW 모드 — YOLO로 사람 인식 후 추종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596896"/>
            <a:ext cx="11064240" cy="65836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596896"/>
            <a:ext cx="64008" cy="658368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2715768"/>
            <a:ext cx="420624" cy="420624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5800" y="2715768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81818"/>
                </a:solidFill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34440" y="2724912"/>
            <a:ext cx="10241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2F2F2"/>
                </a:solidFill>
              </a:rPr>
              <a:t>웹 UI 버튼으로 모드 전환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346704"/>
            <a:ext cx="11064240" cy="65836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346704"/>
            <a:ext cx="64008" cy="658368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3465576"/>
            <a:ext cx="420624" cy="420624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3465576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81818"/>
                </a:solidFill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34440" y="3474720"/>
            <a:ext cx="10241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2F2F2"/>
                </a:solidFill>
              </a:rPr>
              <a:t>경로가 벽을 피해서 생성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096512"/>
            <a:ext cx="11064240" cy="658368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096512"/>
            <a:ext cx="64008" cy="658368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85800" y="4215384"/>
            <a:ext cx="420624" cy="420624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85800" y="4215384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81818"/>
                </a:solidFill>
              </a:rPr>
              <a:t>✓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34440" y="4224528"/>
            <a:ext cx="10241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2F2F2"/>
                </a:solidFill>
              </a:rPr>
              <a:t>장애물 있으면 피해가거나 기다림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846320"/>
            <a:ext cx="11064240" cy="658368"/>
          </a:xfrm>
          <a:prstGeom prst="rect">
            <a:avLst/>
          </a:prstGeom>
          <a:solidFill>
            <a:srgbClr val="2420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48640" y="4846320"/>
            <a:ext cx="64008" cy="658368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85800" y="4965192"/>
            <a:ext cx="420624" cy="420624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965192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81818"/>
                </a:solidFill>
              </a:rPr>
              <a:t>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34440" y="4974336"/>
            <a:ext cx="10241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4C430"/>
                </a:solidFill>
              </a:rPr>
              <a:t>문 통과 — 설정 조정 완료, 실환경 테스트 진행 중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48640" y="5596128"/>
            <a:ext cx="11064240" cy="658368"/>
          </a:xfrm>
          <a:prstGeom prst="rect">
            <a:avLst/>
          </a:prstGeom>
          <a:solidFill>
            <a:srgbClr val="24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48640" y="5596128"/>
            <a:ext cx="64008" cy="658368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85800" y="5715000"/>
            <a:ext cx="420624" cy="420624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85800" y="5715000"/>
            <a:ext cx="42062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81818"/>
                </a:solidFill>
              </a:rPr>
              <a:t>✗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5724144"/>
            <a:ext cx="10241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03E3E"/>
                </a:solidFill>
              </a:rPr>
              <a:t>모드 전환 후 AMCL 재추정 — 해결 방법 검토 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08792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8  / 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818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6012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"/>
            <a:ext cx="121889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2F2F2"/>
                </a:solidFill>
              </a:rPr>
              <a:t>앞으로 할 것들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822960"/>
            <a:ext cx="1572768" cy="36576"/>
          </a:xfrm>
          <a:prstGeom prst="rect">
            <a:avLst/>
          </a:prstGeom>
          <a:solidFill>
            <a:srgbClr val="F26A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097280"/>
            <a:ext cx="2743200" cy="5166360"/>
          </a:xfrm>
          <a:prstGeom prst="rect">
            <a:avLst/>
          </a:prstGeom>
          <a:solidFill>
            <a:srgbClr val="262626"/>
          </a:solidFill>
          <a:ln w="19050">
            <a:solidFill>
              <a:srgbClr val="E03E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5760" y="1097280"/>
            <a:ext cx="2743200" cy="438912"/>
          </a:xfrm>
          <a:prstGeom prst="rect">
            <a:avLst/>
          </a:prstGeom>
          <a:solidFill>
            <a:srgbClr val="E03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09728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81818"/>
                </a:solidFill>
              </a:rPr>
              <a:t>당장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166420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2F2F2"/>
                </a:solidFill>
              </a:rPr>
              <a:t>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0604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2F2F2"/>
                </a:solidFill>
              </a:rPr>
              <a:t>AMCL 재추정 문제 해결
(전환 시 /initialpose 발행)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37560" y="1097280"/>
            <a:ext cx="2743200" cy="5166360"/>
          </a:xfrm>
          <a:prstGeom prst="rect">
            <a:avLst/>
          </a:prstGeom>
          <a:solidFill>
            <a:srgbClr val="262626"/>
          </a:solidFill>
          <a:ln w="19050">
            <a:solidFill>
              <a:srgbClr val="2ECC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37560" y="1097280"/>
            <a:ext cx="2743200" cy="438912"/>
          </a:xfrm>
          <a:prstGeom prst="rect">
            <a:avLst/>
          </a:prstGeom>
          <a:solidFill>
            <a:srgbClr val="2ECC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09728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81818"/>
                </a:solidFill>
              </a:rPr>
              <a:t>이번 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37560" y="166420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2F2F2"/>
                </a:solidFill>
              </a:rPr>
              <a:t>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60604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2F2F2"/>
                </a:solidFill>
              </a:rPr>
              <a:t>문 통과 실환경 최종 테스트
파라미터 확정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1097280"/>
            <a:ext cx="2743200" cy="5166360"/>
          </a:xfrm>
          <a:prstGeom prst="rect">
            <a:avLst/>
          </a:prstGeom>
          <a:solidFill>
            <a:srgbClr val="262626"/>
          </a:solidFill>
          <a:ln w="19050">
            <a:solidFill>
              <a:srgbClr val="F4C4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1097280"/>
            <a:ext cx="2743200" cy="438912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9360" y="109728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81818"/>
                </a:solidFill>
              </a:rPr>
              <a:t>다음 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66420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2F2F2"/>
                </a:solidFill>
              </a:rPr>
              <a:t>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260604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2F2F2"/>
                </a:solidFill>
              </a:rPr>
              <a:t>카메라 장애물 정확도 향상
사람 외 물체 인식 개선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281160" y="1097280"/>
            <a:ext cx="2743200" cy="5166360"/>
          </a:xfrm>
          <a:prstGeom prst="rect">
            <a:avLst/>
          </a:prstGeom>
          <a:solidFill>
            <a:srgbClr val="262626"/>
          </a:solidFill>
          <a:ln w="19050">
            <a:solidFill>
              <a:srgbClr val="3A8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281160" y="1097280"/>
            <a:ext cx="2743200" cy="438912"/>
          </a:xfrm>
          <a:prstGeom prst="rect">
            <a:avLst/>
          </a:prstGeom>
          <a:solidFill>
            <a:srgbClr val="3A8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81160" y="1097280"/>
            <a:ext cx="2743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81818"/>
                </a:solidFill>
              </a:rPr>
              <a:t>그 이후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1664208"/>
            <a:ext cx="2743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0" i="0">
                <a:solidFill>
                  <a:srgbClr val="F2F2F2"/>
                </a:solidFill>
              </a:rPr>
              <a:t>🎙️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18320" y="260604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2F2F2"/>
                </a:solidFill>
              </a:rPr>
              <a:t>음성 명령 목적지 설정
스마트폰 원격 제어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6236208"/>
            <a:ext cx="11430000" cy="36576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6327648"/>
            <a:ext cx="1145743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888888"/>
                </a:solidFill>
              </a:rPr>
              <a:t>최종 목표 :  작업자와 함께 공장을 자유롭게 돌아다니는 서비스 로봇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08792" y="647395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88"/>
                </a:solidFill>
              </a:rPr>
              <a:t>9  /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